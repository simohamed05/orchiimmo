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1371600"/>
            <a:ext cx="2560320" cy="7315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2286000"/>
            <a:ext cx="192024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0" y="4114800"/>
            <a:ext cx="91440" cy="9144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1240" y="411480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4114800"/>
            <a:ext cx="91440" cy="9144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61320" y="411480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4114800"/>
            <a:ext cx="91440" cy="9144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822960"/>
            <a:ext cx="73152" cy="109728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822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4895EF"/>
                </a:solidFill>
                <a:latin typeface="Segoe UI"/>
              </a:rPr>
              <a:t>ORCHI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7C3AED"/>
                </a:solidFill>
                <a:latin typeface="Segoe UI"/>
              </a:rPr>
              <a:t>IMMO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691640"/>
            <a:ext cx="685800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92A4"/>
                </a:solidFill>
                <a:latin typeface="Segoe UI"/>
              </a:rPr>
              <a:t>Plateforme d'Analyse Immobilière Intelligente — 100% Maroc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11274552" cy="1097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560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Segoe UI"/>
              </a:rPr>
              <a:t>Soutenance de Stage de Fin d'Études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92A4"/>
                </a:solidFill>
                <a:latin typeface="Segoe UI"/>
              </a:rPr>
              <a:t>Développement d'une plateforme web d'estimation et d'analyse
des prix immobiliers au Maroc par Intelligence Artificielle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297680"/>
            <a:ext cx="237744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297680"/>
            <a:ext cx="36576" cy="9144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95EF"/>
                </a:solidFill>
                <a:latin typeface="Segoe UI"/>
              </a:rPr>
              <a:t>📅  2025 —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Année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4297680"/>
            <a:ext cx="237744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4297680"/>
            <a:ext cx="36576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199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Segoe UI"/>
              </a:rPr>
              <a:t>🎓  PFE / SFE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199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297680"/>
            <a:ext cx="237744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4297680"/>
            <a:ext cx="36576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🇲🇦  Maroc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709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Périmètre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hadifatimaezzahra5@gmail.com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2A4"/>
                </a:solidFill>
                <a:latin typeface="Segoe UI"/>
              </a:rPr>
              <a:t>Mai 2026</a:t>
            </a:r>
          </a:p>
        </p:txBody>
      </p:sp>
    </p:spTree>
  </p:cSld>
  <p:clrMapOvr>
    <a:masterClrMapping/>
  </p:clrMapOvr>
  <p:transition spd="slow" advTm="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02920" cy="82296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98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029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04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Présentation du Projet ORCHIIMMO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502920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10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Architecture Technique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02920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15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Scraping &amp; Données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502920" cy="82296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285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21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Catalogue &amp; Carte Interactive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09728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097280"/>
            <a:ext cx="5029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298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Estimation IA — Moteur 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10312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103120"/>
            <a:ext cx="502920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304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Dashboards Power BI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10896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108960"/>
            <a:ext cx="502920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310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Chatbot Intelligent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1480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114800"/>
            <a:ext cx="50292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4279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315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Déploiement &amp; Production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120640"/>
            <a:ext cx="5394960" cy="8229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120640"/>
            <a:ext cx="5029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5285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321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Résultats &amp; Perspectives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01 — 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53035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" cy="5303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Segoe UI"/>
              </a:rPr>
              <a:t>⚠ 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>
                <a:solidFill>
                  <a:srgbClr val="E2E8F0"/>
                </a:solidFill>
                <a:latin typeface="Segoe UI"/>
              </a:rPr>
              <a:t>Opacité des prix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Aucune donnée agrégée et fiable sur les prix du marché marocain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8892A4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E2E8F0"/>
                </a:solidFill>
                <a:latin typeface="Segoe UI"/>
              </a:rPr>
              <a:t>Fragmentation des sources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Données dispersées sur 9+ portails immobiliers différents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8892A4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E2E8F0"/>
                </a:solidFill>
                <a:latin typeface="Segoe UI"/>
              </a:rPr>
              <a:t>Pas d'outil d'estimation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Absence d'un moteur IA local pour prédire les prix au Maroc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8892A4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E2E8F0"/>
                </a:solidFill>
                <a:latin typeface="Segoe UI"/>
              </a:rPr>
              <a:t>Décision difficile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Acheteurs et investisseurs manquent de visibilité analytique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4864" cy="5303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📊  Marché Immobilier Marocain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91640"/>
            <a:ext cx="50292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36576" cy="9144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895EF"/>
                </a:solidFill>
                <a:latin typeface="Segoe UI"/>
              </a:rPr>
              <a:t>7 805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67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Annonces actives collectées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88920"/>
            <a:ext cx="50292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88920"/>
            <a:ext cx="36576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Segoe UI"/>
              </a:rPr>
              <a:t>331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64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Villes couvertes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886200"/>
            <a:ext cx="50292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86200"/>
            <a:ext cx="36576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1 350 000 MAD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361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Prix médian national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983479"/>
            <a:ext cx="50292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983479"/>
            <a:ext cx="36576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A261"/>
                </a:solidFill>
                <a:latin typeface="Segoe UI"/>
              </a:rPr>
              <a:t>9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4589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Portails immobiliers scrappés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02 — Présentation du Projet ORCHIIMMO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0972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4895EF"/>
                </a:solidFill>
                <a:latin typeface="Segoe UI"/>
              </a:rPr>
              <a:t>ORCHI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960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C3AED"/>
                </a:solidFill>
                <a:latin typeface="Segoe UI"/>
              </a:rPr>
              <a:t>IMMO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6187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A4"/>
                </a:solidFill>
                <a:latin typeface="Segoe UI"/>
              </a:rPr>
              <a:t>— Plateforme d'analyse immobilière 100% Maroc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2743200" cy="41148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274320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2514600"/>
            <a:ext cx="1097280" cy="109728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489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895EF"/>
                </a:solidFill>
                <a:latin typeface="Segoe UI"/>
              </a:rPr>
              <a:t>Catalogue
Immobilier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2A4"/>
                </a:solidFill>
                <a:latin typeface="Segoe UI"/>
              </a:rPr>
              <a:t>Recherche avancée
7 805+ annonces
Filtres multicritères
Géolocalisation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286000"/>
            <a:ext cx="2743200" cy="41148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22860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69080" y="2514600"/>
            <a:ext cx="1097280" cy="109728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2606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703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Segoe UI"/>
              </a:rPr>
              <a:t>Estimation
par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348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2A4"/>
                </a:solidFill>
                <a:latin typeface="Segoe UI"/>
              </a:rPr>
              <a:t>4 modèles ML
LightGBM · XGBoost
CatBoost · RandomForest
Intervalle de confiance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286000"/>
            <a:ext cx="2743200" cy="41148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286000"/>
            <a:ext cx="27432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0" y="2514600"/>
            <a:ext cx="1097280" cy="109728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606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03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Dashboards
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348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2A4"/>
                </a:solidFill>
                <a:latin typeface="Segoe UI"/>
              </a:rPr>
              <a:t>Analyses de marché
Tendances prix
KPIs immobiliers
Visualisation interactive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286000"/>
            <a:ext cx="2743200" cy="41148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2286000"/>
            <a:ext cx="27432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29800" y="2514600"/>
            <a:ext cx="1097280" cy="109728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2606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703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A261"/>
                </a:solidFill>
                <a:latin typeface="Segoe UI"/>
              </a:rPr>
              <a:t>Chatbot
Intelligent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348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2A4"/>
                </a:solidFill>
                <a:latin typeface="Segoe UI"/>
              </a:rPr>
              <a:t>Assistant virtuel
Intégration N8N
Français / Arabe
Available 24/7</a:t>
            </a:r>
          </a:p>
        </p:txBody>
      </p:sp>
    </p:spTree>
  </p:cSld>
  <p:clrMapOvr>
    <a:masterClrMapping/>
  </p:clrMapOvr>
  <p:transition spd="slow" advTm="0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03 — 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80467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4864" cy="80467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1463040" cy="47548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115568"/>
            <a:ext cx="9509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Bootstrap 5.3 · CSS Glassmorphism · Vanilla JS · Bilingual (FR/AR)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11430000" cy="80467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54864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39111"/>
            <a:ext cx="146304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75687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075687"/>
            <a:ext cx="9509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Django 5.2 · Python 3.12 · WhiteNoise · Gunicorn WSGI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11430000" cy="80467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54864" cy="8046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99232"/>
            <a:ext cx="1463040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IA /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035808"/>
            <a:ext cx="9509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LightGBM · XGBoost · CatBoost · RandomForest · scikit-learn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11430000" cy="80467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4864" cy="8046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59352"/>
            <a:ext cx="1463040" cy="4754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9592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995928"/>
            <a:ext cx="9509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PostgreSQL · BeautifulSoup4 · Requests · lxml · pandas/numpy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11430000" cy="80467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54864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19472"/>
            <a:ext cx="14630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5604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956048"/>
            <a:ext cx="9509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N8N Chatbot · Power BI Embed · Brevo Email · Pillow · openpyxl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15000"/>
            <a:ext cx="11430000" cy="80467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715000"/>
            <a:ext cx="54864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879592"/>
            <a:ext cx="146304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1616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916168"/>
            <a:ext cx="9509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Render.com · Frankfurt · Gunicorn · WhiteNoise · django-ratelimit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17099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26700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63016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5902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55040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▼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04 — Collecte de Données —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Segoe UI"/>
              </a:rPr>
              <a:t>9 Portails Immobiliers Scrappés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100584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95EF"/>
                </a:solidFill>
                <a:latin typeface="Segoe U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Mubawab.ma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79" y="137160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79" y="1371600"/>
            <a:ext cx="54864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Avito.ma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37160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371600"/>
            <a:ext cx="54864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Sarouty.ma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0604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0604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261"/>
                </a:solidFill>
                <a:latin typeface="Segoe UI"/>
              </a:rP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535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Agenz.ma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260604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79" y="2606040"/>
            <a:ext cx="54864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39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#5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39" y="29535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MarocAnnonces.ma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0604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260604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#6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9535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Masaken.ma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4048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840480"/>
            <a:ext cx="54864" cy="100584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95EF"/>
                </a:solidFill>
                <a:latin typeface="Segoe UI"/>
              </a:rPr>
              <a:t>#7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1879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LogicImmo.ma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79" y="384048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79" y="3840480"/>
            <a:ext cx="54864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39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#8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39" y="41879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Bikhir.ma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840480"/>
            <a:ext cx="192024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3840480"/>
            <a:ext cx="54864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#9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41879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+ Sources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914400"/>
            <a:ext cx="5029200" cy="56692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6560" y="914400"/>
            <a:ext cx="54864" cy="5669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1005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Segoe UI"/>
              </a:rPr>
              <a:t>🔄  Pipeline de Collecte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1508760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0" y="1508760"/>
            <a:ext cx="365760" cy="56692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16184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16367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Requêtes HTTP (requests)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203704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49440" y="2203704"/>
            <a:ext cx="36576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313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2331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Parsing HTML (BeautifulSoup4 + lxml)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2898648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49440" y="2898648"/>
            <a:ext cx="365760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30083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0266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Extraction: titre, prix, surface, ville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3593592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49440" y="3593592"/>
            <a:ext cx="365760" cy="5669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7216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Nettoyage &amp; normalisation des données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4288536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49440" y="4288536"/>
            <a:ext cx="36576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43982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44165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Géocodage (lat/lng par ville)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4983479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49440" y="4983479"/>
            <a:ext cx="365760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0" y="509320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5111495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Stockage PostgreSQL / SQLite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9440" y="5678424"/>
            <a:ext cx="4480560" cy="56692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49440" y="5678424"/>
            <a:ext cx="365760" cy="56692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0" y="5788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5806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Segoe UI"/>
              </a:rPr>
              <a:t>Scraping automatique configurable</a:t>
            </a:r>
          </a:p>
        </p:txBody>
      </p:sp>
    </p:spTree>
  </p:cSld>
  <p:clrMapOvr>
    <a:masterClrMapping/>
  </p:clrMapOvr>
  <p:transition spd="slow" advTm="0"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05 — Catalogue Immobilier &amp; Carte Interactive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577840" cy="24231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57784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95EF"/>
                </a:solidFill>
                <a:latin typeface="Segoe UI"/>
              </a:rPr>
              <a:t>🔍  Recherche Avancée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  <a:latin typeface="Segoe UI"/>
              </a:rPr>
              <a:t>• Filtres: ville, type, prix min/max
• Surface (m²), nbre chambres/SDB
• Tri par prix, surface, date
• Pagination intelligente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577840" cy="24231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557784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🗺️  Carte Interactive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  <a:latin typeface="Segoe UI"/>
              </a:rPr>
              <a:t>• Géolocalisation de chaque bien
• Coordonnées lat/lng par ville
• Clustering des marqueurs
• Vue satellite disponible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577840" cy="24231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5778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Segoe UI"/>
              </a:rPr>
              <a:t>📱  Fiche Propriété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  <a:latin typeface="Segoe UI"/>
              </a:rPr>
              <a:t>• Photos HD de l'annonce
• Prix en MAD + Prix/m²
• Contact WhatsApp direct
• Source originale linkée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566160"/>
            <a:ext cx="5577840" cy="24231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557784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Segoe UI"/>
              </a:rPr>
              <a:t>📈  Statistiques Marché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A4"/>
                </a:solidFill>
                <a:latin typeface="Segoe UI"/>
              </a:rPr>
              <a:t>• Top 10 villes (Marrakech, Casa...)
• Prix médian: 1 350 000 MAD
• Prix moyen: 2 837 789 MAD
• 331 villes couvertes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06 — Moteur d'Estimation par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0" cy="56692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029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Segoe UI"/>
              </a:rPr>
              <a:t>📋  Formulaire d'Estimation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2A4"/>
                </a:solidFill>
                <a:latin typeface="Segoe UI"/>
              </a:rPr>
              <a:t>🏙️  Ville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572000" cy="347472"/>
          </a:xfrm>
          <a:prstGeom prst="rect">
            <a:avLst/>
          </a:prstGeom>
          <a:solidFill>
            <a:srgbClr val="1A1F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Marrakech, Casablanca, Tanger...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2A4"/>
                </a:solidFill>
                <a:latin typeface="Segoe UI"/>
              </a:rPr>
              <a:t>📐  Surface (m²)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4572000" cy="347472"/>
          </a:xfrm>
          <a:prstGeom prst="rect">
            <a:avLst/>
          </a:prstGeom>
          <a:solidFill>
            <a:srgbClr val="1A1F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Ex: 85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2A4"/>
                </a:solidFill>
                <a:latin typeface="Segoe UI"/>
              </a:rPr>
              <a:t>🛏️  Chambres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4572000" cy="347472"/>
          </a:xfrm>
          <a:prstGeom prst="rect">
            <a:avLst/>
          </a:prstGeom>
          <a:solidFill>
            <a:srgbClr val="1A1F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1 — 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2A4"/>
                </a:solidFill>
                <a:latin typeface="Segoe UI"/>
              </a:rPr>
              <a:t>🚿  Salles de bain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40"/>
            <a:ext cx="4572000" cy="347472"/>
          </a:xfrm>
          <a:prstGeom prst="rect">
            <a:avLst/>
          </a:prstGeom>
          <a:solidFill>
            <a:srgbClr val="1A1F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1 — 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2A4"/>
                </a:solidFill>
                <a:latin typeface="Segoe UI"/>
              </a:rPr>
              <a:t>🏠  Type de bien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09160"/>
            <a:ext cx="4572000" cy="347472"/>
          </a:xfrm>
          <a:prstGeom prst="rect">
            <a:avLst/>
          </a:prstGeom>
          <a:solidFill>
            <a:srgbClr val="1A1F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Appartement / Villa /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2A4"/>
                </a:solidFill>
                <a:latin typeface="Segoe UI"/>
              </a:rPr>
              <a:t>📍  Quartier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40680"/>
            <a:ext cx="4572000" cy="347472"/>
          </a:xfrm>
          <a:prstGeom prst="rect">
            <a:avLst/>
          </a:prstGeom>
          <a:solidFill>
            <a:srgbClr val="1A1F35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589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Centre-ville, Guéliz, Bourgogne...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43600"/>
            <a:ext cx="45720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618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⚡  Estimer le Prix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914400"/>
            <a:ext cx="6035040" cy="56692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914400"/>
            <a:ext cx="603504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1005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📊  Résultat de l'Estimation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508760"/>
            <a:ext cx="5577840" cy="13716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160020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6D6A0"/>
                </a:solidFill>
                <a:latin typeface="Segoe UI"/>
              </a:rPr>
              <a:t>1 247 500 MAD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286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4"/>
                </a:solidFill>
                <a:latin typeface="Segoe UI"/>
              </a:rPr>
              <a:t>Prix estimé par l'IA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017520"/>
            <a:ext cx="557784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1089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A261"/>
                </a:solidFill>
                <a:latin typeface="Segoe UI"/>
              </a:rPr>
              <a:t>Intervalle de confiance: 1 100 000 — 1 395 000 MAD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840480"/>
            <a:ext cx="5577840" cy="53035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3840480"/>
            <a:ext cx="36576" cy="53035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39502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Prix / m²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895EF"/>
                </a:solidFill>
                <a:latin typeface="Segoe UI"/>
              </a:rPr>
              <a:t>14 676 MAD/m²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498848"/>
            <a:ext cx="5577840" cy="53035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4498848"/>
            <a:ext cx="36576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46085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Modèle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6085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C3AED"/>
                </a:solidFill>
                <a:latin typeface="Segoe UI"/>
              </a:rPr>
              <a:t>LightGBM v2.1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157216"/>
            <a:ext cx="5577840" cy="53035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5157216"/>
            <a:ext cx="36576" cy="5303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52669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Confiance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2669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D6A0"/>
                </a:solidFill>
                <a:latin typeface="Segoe UI"/>
              </a:rPr>
              <a:t>±11.9%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5815584"/>
            <a:ext cx="5577840" cy="53035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5815584"/>
            <a:ext cx="36576" cy="5303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5925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Ville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925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4A261"/>
                </a:solidFill>
                <a:latin typeface="Segoe UI"/>
              </a:rPr>
              <a:t>Marrakech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06b — Modèles Machine Learning Comparés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743200" cy="52120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2743200" cy="228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863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🏆 MEILLEUR MODÈLE SÉLECTIONNÉ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Segoe UI"/>
              </a:rPr>
              <a:t>LightGBM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🏆 Meilleur modèle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246888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R²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2468880" cy="2011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224668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3317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R² Score: 0.912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RMSE: 182 400 MAD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Très rapide, gestion catégorielle native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Idéal pour données immobilières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005840"/>
            <a:ext cx="2743200" cy="48463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895EF"/>
                </a:solidFill>
                <a:latin typeface="Segoe UI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2ème modèle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965960"/>
            <a:ext cx="2468880" cy="1828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R²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331720"/>
            <a:ext cx="2468880" cy="2011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2331720"/>
            <a:ext cx="2197303" cy="20116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3317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6974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R² Score: 0.891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RMSE: 198 100 MAD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Robuste, gradient boosting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Bonne généralisation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05840"/>
            <a:ext cx="2743200" cy="48463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Segoe UI"/>
              </a:rPr>
              <a:t>CatBoost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3ème modèle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965960"/>
            <a:ext cx="246888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R²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331720"/>
            <a:ext cx="2468880" cy="2011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331720"/>
            <a:ext cx="217261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3317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88%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974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R² Score: 0.878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RMSE: 210 500 MAD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Gestion auto des catégories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Moins de tuning requis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1005840"/>
            <a:ext cx="2743200" cy="48463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1005840"/>
            <a:ext cx="27432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A261"/>
                </a:solidFill>
                <a:latin typeface="Segoe UI"/>
              </a:rPr>
              <a:t>RandomForest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1965960"/>
            <a:ext cx="246888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R² Score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2331720"/>
            <a:ext cx="2468880" cy="2011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2331720"/>
            <a:ext cx="2073859" cy="2011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5680" y="23317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84%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69748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R² Score: 0.843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RMSE: 235 800 MAD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Simple et interprétable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892A4"/>
                </a:solidFill>
                <a:latin typeface="Segoe UI"/>
              </a:rPr>
              <a:t>Référence pour comparaison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6080760"/>
            <a:ext cx="54864" cy="59436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144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Features: ville · surface (m²) · nbre chambres · nbre SDB · type de bien · quartier   →   Prix (MAD)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07 — Dashboards Analytiques —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7132320" cy="53035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71323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Power BI Embedded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291840" cy="1828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2A4"/>
                </a:solidFill>
                <a:latin typeface="Segoe UI"/>
              </a:rPr>
              <a:t>📈 Évolution des Prix
par Ville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508760"/>
            <a:ext cx="3291840" cy="1828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2A4"/>
                </a:solidFill>
                <a:latin typeface="Segoe UI"/>
              </a:rPr>
              <a:t>🥧 Répartition
par Type de Bien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6766560" cy="25603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2A4"/>
                </a:solidFill>
                <a:latin typeface="Segoe UI"/>
              </a:rPr>
              <a:t>🗺️  Carte de Chaleur — Distribution des Prix par Région Marocaine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914400"/>
            <a:ext cx="4023360" cy="53035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914400"/>
            <a:ext cx="54864" cy="5303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005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Segoe UI"/>
              </a:rPr>
              <a:t>📊  KPIs Clés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508760"/>
            <a:ext cx="36576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508760"/>
            <a:ext cx="36576" cy="62179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63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95EF"/>
                </a:solidFill>
                <a:latin typeface="Segoe UI"/>
              </a:rPr>
              <a:t>7 805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85623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Annonces totales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258568"/>
            <a:ext cx="36576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258568"/>
            <a:ext cx="36576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Segoe UI"/>
              </a:rPr>
              <a:t>331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06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Villes couvertes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008376"/>
            <a:ext cx="36576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008376"/>
            <a:ext cx="36576" cy="62179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1 350 000 MAD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3558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Prix médian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758183"/>
            <a:ext cx="36576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758183"/>
            <a:ext cx="36576" cy="62179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381304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Segoe UI"/>
              </a:rPr>
              <a:t>2 837 789 MAD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105655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Prix moyen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4507992"/>
            <a:ext cx="36576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4507992"/>
            <a:ext cx="36576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562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Segoe U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8554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Sources scrappées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5257800"/>
            <a:ext cx="36576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5257800"/>
            <a:ext cx="36576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5312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Segoe UI"/>
              </a:rPr>
              <a:t>20/h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6052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Estimations/utilisateur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08 — Chatbot Intelligent — N8N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0" cy="56692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029200" cy="5029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💬  Assistant ORCHIIMMO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Segoe UI"/>
              </a:rPr>
              <a:t>● En ligne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4114800" cy="71323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576" cy="71323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Segoe UI"/>
              </a:rPr>
              <a:t>Bonjour ! Comment puis-je vous aider avec l'immobilier au Maroc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404872"/>
            <a:ext cx="4114800" cy="71323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9824" y="2404872"/>
            <a:ext cx="36576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49631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Segoe UI"/>
              </a:rPr>
              <a:t>Quel est le prix moyen d'un appartement à Casablanca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00984"/>
            <a:ext cx="4114800" cy="71323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00984"/>
            <a:ext cx="36576" cy="71323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9242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Segoe UI"/>
              </a:rPr>
              <a:t>À Casablanca, le prix moyen est de ~2 500 000 MAD pour un appart de 85m². Je peux vous faire une estimation précise si vous le souhaitez 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197096"/>
            <a:ext cx="4114800" cy="71323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9824" y="4197096"/>
            <a:ext cx="36576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428853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Segoe UI"/>
              </a:rPr>
              <a:t>Merci ! Pouvez-vous m'aider à estimer un bien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93208"/>
            <a:ext cx="4114800" cy="71323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93208"/>
            <a:ext cx="36576" cy="71323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18464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Segoe UI"/>
              </a:rPr>
              <a:t>Bien sûr ! Rendez-vous sur la page Estimation IA pour obtenir une prédiction personnalisée avec intervalle de confiance.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914400"/>
            <a:ext cx="6035040" cy="56692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914400"/>
            <a:ext cx="54864" cy="5669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Segoe UI"/>
              </a:rPr>
              <a:t>⚙️  Architecture Chatbot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508760"/>
            <a:ext cx="5577840" cy="7772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508760"/>
            <a:ext cx="36576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554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  <a:latin typeface="Segoe UI"/>
              </a:rPr>
              <a:t>N8N Workflow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856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Orchestration des flux de conversation
Webhooks + logique métier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423160"/>
            <a:ext cx="5577840" cy="7772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2423160"/>
            <a:ext cx="36576" cy="77724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468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95EF"/>
                </a:solidFill>
                <a:latin typeface="Segoe UI"/>
              </a:rPr>
              <a:t>Claude API (Anthropic)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770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Modèle IA sous-jacent pour
la compréhension du langage naturel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337560"/>
            <a:ext cx="5577840" cy="7772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337560"/>
            <a:ext cx="36576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3383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Segoe UI"/>
              </a:rPr>
              <a:t>Django Proxy /chatbot/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685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Endpoint sécurisé qui relaie
les requêtes vers N8N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251960"/>
            <a:ext cx="5577840" cy="7772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4251960"/>
            <a:ext cx="36576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297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Widget 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599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@n8n/chat CDN — s'intègre sur
toutes les pages du site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5166360"/>
            <a:ext cx="5577840" cy="7772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5166360"/>
            <a:ext cx="36576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5212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Bilingue FR / 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513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Support Français et Arabe Darija
RTL layout automatique</a:t>
            </a:r>
          </a:p>
        </p:txBody>
      </p:sp>
    </p:spTree>
  </p:cSld>
  <p:clrMapOvr>
    <a:masterClrMapping/>
  </p:clrMapOvr>
  <p:transition spd="slow" advTm="0">
    <p:wipe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Interface Utilisateur —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2A4"/>
                </a:solidFill>
                <a:latin typeface="Segoe UI"/>
              </a:rPr>
              <a:t>Design Glassmorphism · Dark / Light Mode · Bilingue FR /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Segoe UI"/>
              </a:rPr>
              <a:t>Palette de Couleurs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822960" cy="5029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#4895EF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Bleu Accent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417320"/>
            <a:ext cx="8229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#7C3AED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Violet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417320"/>
            <a:ext cx="82296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#06D6A0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Teal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417320"/>
            <a:ext cx="82296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#F4A261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Orange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417320"/>
            <a:ext cx="8229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#EF4444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Rouge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1417320"/>
            <a:ext cx="8229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#F59E0B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1945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  <a:latin typeface="Segoe UI"/>
              </a:rPr>
              <a:t>Jaune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68880"/>
            <a:ext cx="3749039" cy="1737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54864" cy="173736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606040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95EF"/>
                </a:solidFill>
                <a:latin typeface="Segoe UI"/>
              </a:rPr>
              <a:t>🌑 Dark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17520"/>
            <a:ext cx="3520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Thème sombre par défaut
#080B14 fond, glassmorphism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468880"/>
            <a:ext cx="3749039" cy="1737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246888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606040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☀️ Light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017520"/>
            <a:ext cx="3520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Basculement dynamique
LocalStorage persistance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468880"/>
            <a:ext cx="3749039" cy="1737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468880"/>
            <a:ext cx="54864" cy="1737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606040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🇲🇦 Bilingue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017520"/>
            <a:ext cx="3520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Français ↔ Arabe Darija
RTL automatique pour 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89120"/>
            <a:ext cx="3749039" cy="1737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389120"/>
            <a:ext cx="54864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Segoe UI"/>
              </a:rPr>
              <a:t>✨ Animations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37760"/>
            <a:ext cx="3520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Tilt 3D, gradient shifts
Pulse-glow, shimmer effect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389120"/>
            <a:ext cx="3749039" cy="1737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389120"/>
            <a:ext cx="54864" cy="1737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526280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📱 Responsive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937760"/>
            <a:ext cx="3520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Bootstrap 5.3 grid
Mobile / Tablet / Desktop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389120"/>
            <a:ext cx="3749039" cy="17373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389120"/>
            <a:ext cx="54864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526280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Segoe UI"/>
              </a:rPr>
              <a:t>🔒 Sécurité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937760"/>
            <a:ext cx="3520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Segoe UI"/>
              </a:rPr>
              <a:t>Rate limiting 20/h
CSRF, auth required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09 — Déploiement &amp; Infrastructure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560320" cy="457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95EF"/>
                </a:solidFill>
                <a:latin typeface="Segoe UI"/>
              </a:rPr>
              <a:t>👤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Navigateur web
FR / 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97280"/>
            <a:ext cx="256032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25603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☁️ 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Cloud Hosting
Frankfurt (EU)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097280"/>
            <a:ext cx="256032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097280"/>
            <a:ext cx="25603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2070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⚙️ Django 5.2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Gunicorn WSGI
Python 3.12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256032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256032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529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🗄️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18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Render DB
Free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743200"/>
            <a:ext cx="256032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2743200"/>
            <a:ext cx="25603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8529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Segoe UI"/>
              </a:rPr>
              <a:t>📦 WhiteNoise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18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Static Files
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743200"/>
            <a:ext cx="2560320" cy="914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274320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8529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📧 Brevo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18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Segoe UI"/>
              </a:rPr>
              <a:t>Email Backend
Password Reset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1508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HTTPS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1508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WSGI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SQL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SMTP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31920"/>
            <a:ext cx="10972800" cy="265176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54864" cy="2651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Segoe UI"/>
              </a:rPr>
              <a:t>⚙️  Configuration render.yaml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>
                <a:solidFill>
                  <a:srgbClr val="4895EF"/>
                </a:solidFill>
                <a:latin typeface="Segoe UI"/>
              </a:rPr>
              <a:t>services: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892A4"/>
                </a:solidFill>
                <a:latin typeface="Segoe UI"/>
              </a:rPr>
              <a:t>  type: web  |  env: python  |  region: frankfurt  |  plan: free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892A4"/>
                </a:solidFill>
                <a:latin typeface="Segoe UI"/>
              </a:rPr>
              <a:t>  buildCommand: pip install -r requirements.txt &amp;&amp; python manage.py collectstatic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6D6A0"/>
                </a:solidFill>
                <a:latin typeface="Segoe UI"/>
              </a:rPr>
              <a:t>  startCommand: gunicorn config.wsgi:application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4895EF"/>
                </a:solidFill>
                <a:latin typeface="Segoe UI"/>
              </a:rPr>
              <a:t>databases: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892A4"/>
                </a:solidFill>
                <a:latin typeface="Segoe UI"/>
              </a:rPr>
              <a:t>  type: pgsql  |  plan: free  |  region: frankfurt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4A261"/>
                </a:solidFill>
                <a:latin typeface="Segoe UI"/>
              </a:rPr>
              <a:t>URL Production:  orchiimmo.onrender.com</a:t>
            </a:r>
          </a:p>
        </p:txBody>
      </p:sp>
    </p:spTree>
  </p:cSld>
  <p:clrMapOvr>
    <a:masterClrMapping/>
  </p:clrMapOvr>
  <p:transition spd="slow" advTm="0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54864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Segoe UI"/>
              </a:rPr>
              <a:t>10 — Résultats, Bilan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14630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95EF"/>
                </a:solidFill>
                <a:latin typeface="Segoe UI"/>
              </a:rPr>
              <a:t>7 805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Annonces
collectées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651760" cy="14630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005840"/>
            <a:ext cx="265176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D6A0"/>
                </a:solidFill>
                <a:latin typeface="Segoe UI"/>
              </a:rPr>
              <a:t>91.2%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R² Score
LightGBM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C3AED"/>
                </a:solidFill>
                <a:latin typeface="Segoe UI"/>
              </a:rPr>
              <a:t>331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Villes
couvertes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005840"/>
            <a:ext cx="2651760" cy="14630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005840"/>
            <a:ext cx="265176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1155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4A261"/>
                </a:solidFill>
                <a:latin typeface="Segoe U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Sources
scrappées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5486400" cy="39319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697480"/>
            <a:ext cx="54864" cy="3931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✅  Réalisations du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Plateforme web complète déployée en production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Moteur IA avec 4 modèles ML comparés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Web scraping de 9 portails immobiliers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7 805 annonces collectées sur 331 villes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Dashboards Power BI intégrés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Chatbot N8N en FR et AR (Darija)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Interface glassmorphism dark/light bilingue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✅  Déploiement cloud Render.com (Frankfurt)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697480"/>
            <a:ext cx="5669280" cy="39319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697480"/>
            <a:ext cx="54864" cy="3931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Segoe UI"/>
              </a:rPr>
              <a:t>🚀  Perspectives d'Amélioration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46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Application mobile React Native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Modèles deep learning (Neural Networks)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Alertes email/SMS sur nouveaux biens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Comparateur de biens côte à côte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API publique REST pour partenaires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Intégration de photos pour estimation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Score de quartier (écoles, commerces...)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92A4"/>
                </a:solidFill>
                <a:latin typeface="Segoe UI"/>
              </a:rPr>
              <a:t>🔮  Analyse prédictive des tendances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A4"/>
                </a:solidFill>
                <a:latin typeface="Segoe UI"/>
              </a:rPr>
              <a:t>Ce projet de stage de fin d'études a permis de concevoir et déployer ORCHIIMMO, une plateforme immobilière complète dédiée au marché marocain. En combinant le web scraping de 9 sources, un moteur IA basé sur LightGBM (R² = 91.2%), des dashboards Power BI et un chatbot intelligent N8N, la plateforme répond à un réel besoin de transparence et d'accessibilité des données immobilières au Maroc.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3474720" cy="3200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47472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788920"/>
            <a:ext cx="1371600" cy="137160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489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862072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2E8F0"/>
                </a:solidFill>
                <a:latin typeface="Segoe UI"/>
              </a:rPr>
              <a:t>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895EF"/>
                </a:solidFill>
                <a:latin typeface="Segoe UI"/>
              </a:rPr>
              <a:t>Innovation
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4 modèles ML comparés
LightGBM sélectionné
R² Score de 91.2%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06040"/>
            <a:ext cx="3474720" cy="3200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606040"/>
            <a:ext cx="34747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57800" y="2788920"/>
            <a:ext cx="1371600" cy="137160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862072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2E8F0"/>
                </a:solidFill>
                <a:latin typeface="Segoe U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Impact
Métier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7 805 annonces collectées
331 villes marocaines
Prix transparents et accessibles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606040"/>
            <a:ext cx="3474720" cy="320040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60604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06839" y="2788920"/>
            <a:ext cx="1371600" cy="1371600"/>
          </a:xfrm>
          <a:prstGeom prst="ellipse">
            <a:avLst/>
          </a:prstGeom>
          <a:solidFill>
            <a:srgbClr val="1A1F3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39" y="2862072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2E8F0"/>
                </a:solidFill>
                <a:latin typeface="Segoe UI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4251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Segoe UI"/>
              </a:rPr>
              <a:t>Déploiement
Professionnel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Segoe UI"/>
              </a:rPr>
              <a:t>Cloud Render.com (Frankfurt)
CI/CD avec render.yaml
orchiimmo.onrender.com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ORCHIIMMO © 2026 — Plateforme Immobilière Maroc | PFE 2025-2026</a:t>
            </a:r>
          </a:p>
        </p:txBody>
      </p:sp>
    </p:spTree>
  </p:cSld>
  <p:clrMapOvr>
    <a:masterClrMapping/>
  </p:clrMapOvr>
  <p:transition spd="slow" advTm="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029200"/>
            <a:ext cx="2286000" cy="2286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5029200"/>
            <a:ext cx="1371600" cy="13716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4895EF"/>
                </a:solidFill>
                <a:latin typeface="Segoe UI"/>
              </a:rPr>
              <a:t>ORCHI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7C3AED"/>
                </a:solidFill>
                <a:latin typeface="Segoe UI"/>
              </a:rPr>
              <a:t>IMMO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377440"/>
            <a:ext cx="8686800" cy="54864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2E8F0"/>
                </a:solidFill>
                <a:latin typeface="Segoe UI"/>
              </a:rPr>
              <a:t>Merci pour votre attention 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92A4"/>
                </a:solidFill>
                <a:latin typeface="Segoe UI"/>
              </a:rPr>
              <a:t>Place aux Questions 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114800"/>
            <a:ext cx="8686800" cy="16459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4114800"/>
            <a:ext cx="8686800" cy="36576"/>
          </a:xfrm>
          <a:prstGeom prst="rect">
            <a:avLst/>
          </a:prstGeom>
          <a:solidFill>
            <a:srgbClr val="489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895EF"/>
                </a:solidFill>
                <a:latin typeface="Segoe UI"/>
              </a:rPr>
              <a:t>📧  hadifatimaezzahra5@gmail.com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🌐  orchiimmo.onrender.com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A261"/>
                </a:solidFill>
                <a:latin typeface="Segoe UI"/>
              </a:rPr>
              <a:t>🇲🇦  PFE 2025-2026 | Maroc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  <a:latin typeface="Segoe UI"/>
              </a:rPr>
              <a:t>ORCHIIMMO © 2026 — Plateforme Immobilière Maroc | PFE 2025-2026</a:t>
            </a:r>
          </a:p>
        </p:txBody>
      </p:sp>
    </p:spTree>
  </p:cSld>
  <p:clrMapOvr>
    <a:masterClrMapping/>
  </p:clrMapOvr>
  <p:transition xmlns:p14="http://schemas.microsoft.com/office/powerpoint/2010/main" spd="slow" advTm="0">
    <p14:transition dur="800" invX="0" invY="0">
      <p14:morph/>
    </p14:transition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